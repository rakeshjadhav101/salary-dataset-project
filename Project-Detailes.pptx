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96" r:id="rId5"/>
    <p:sldId id="297" r:id="rId6"/>
    <p:sldId id="298" r:id="rId7"/>
    <p:sldId id="295" r:id="rId8"/>
    <p:sldId id="260" r:id="rId9"/>
    <p:sldId id="278" r:id="rId10"/>
    <p:sldId id="276" r:id="rId11"/>
    <p:sldId id="288" r:id="rId12"/>
    <p:sldId id="291" r:id="rId13"/>
    <p:sldId id="300" r:id="rId14"/>
    <p:sldId id="293" r:id="rId15"/>
    <p:sldId id="294" r:id="rId16"/>
    <p:sldId id="301"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6" autoAdjust="0"/>
    <p:restoredTop sz="94660"/>
  </p:normalViewPr>
  <p:slideViewPr>
    <p:cSldViewPr snapToGrid="0">
      <p:cViewPr varScale="1">
        <p:scale>
          <a:sx n="103" d="100"/>
          <a:sy n="103" d="100"/>
        </p:scale>
        <p:origin x="92"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29/12/2025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627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29/12/2025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433512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64EE62-ECEF-41AE-9F67-44CA13249033}" type="datetimeFigureOut">
              <a:rPr lang="en-ID" smtClean="0"/>
              <a:t>29/12/2025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746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64EE62-ECEF-41AE-9F67-44CA13249033}" type="datetimeFigureOut">
              <a:rPr lang="en-ID" smtClean="0"/>
              <a:t>29/12/2025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4242236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64EE62-ECEF-41AE-9F67-44CA13249033}" type="datetimeFigureOut">
              <a:rPr lang="en-ID" smtClean="0"/>
              <a:t>29/12/2025</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84978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64EE62-ECEF-41AE-9F67-44CA13249033}" type="datetimeFigureOut">
              <a:rPr lang="en-ID" smtClean="0"/>
              <a:t>29/12/2025</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7199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64EE62-ECEF-41AE-9F67-44CA13249033}" type="datetimeFigureOut">
              <a:rPr lang="en-ID" smtClean="0"/>
              <a:t>29/12/2025</a:t>
            </a:fld>
            <a:endParaRPr lang="en-ID"/>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D"/>
          </a:p>
        </p:txBody>
      </p:sp>
      <p:sp>
        <p:nvSpPr>
          <p:cNvPr id="9" name="Slide Number Placeholder 8"/>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805567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064EE62-ECEF-41AE-9F67-44CA13249033}" type="datetimeFigureOut">
              <a:rPr lang="en-ID" smtClean="0"/>
              <a:t>29/12/2025</a:t>
            </a:fld>
            <a:endParaRPr lang="en-ID"/>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D"/>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7A54D02-C7CA-468E-9A85-2EB3A8EA2248}" type="slidenum">
              <a:rPr lang="en-ID" smtClean="0"/>
              <a:t>‹#›</a:t>
            </a:fld>
            <a:endParaRPr lang="en-ID"/>
          </a:p>
        </p:txBody>
      </p:sp>
    </p:spTree>
    <p:extLst>
      <p:ext uri="{BB962C8B-B14F-4D97-AF65-F5344CB8AC3E}">
        <p14:creationId xmlns:p14="http://schemas.microsoft.com/office/powerpoint/2010/main" val="184907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64EE62-ECEF-41AE-9F67-44CA13249033}" type="datetimeFigureOut">
              <a:rPr lang="en-ID" smtClean="0"/>
              <a:t>29/12/2025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718735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29/12/2025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1628692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29/12/2025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398210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64EE62-ECEF-41AE-9F67-44CA13249033}" type="datetimeFigureOut">
              <a:rPr lang="en-ID" smtClean="0"/>
              <a:t>29/12/2025</a:t>
            </a:fld>
            <a:endParaRPr lang="en-ID"/>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D"/>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7A54D02-C7CA-468E-9A85-2EB3A8EA2248}" type="slidenum">
              <a:rPr lang="en-ID" smtClean="0"/>
              <a:t>‹#›</a:t>
            </a:fld>
            <a:endParaRPr lang="en-ID"/>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2727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2894-512A-4F05-B5D2-9D8E957542EB}"/>
              </a:ext>
            </a:extLst>
          </p:cNvPr>
          <p:cNvSpPr>
            <a:spLocks noGrp="1"/>
          </p:cNvSpPr>
          <p:nvPr>
            <p:ph type="ctrTitle"/>
          </p:nvPr>
        </p:nvSpPr>
        <p:spPr>
          <a:xfrm>
            <a:off x="1594958" y="1478229"/>
            <a:ext cx="9068586" cy="2218781"/>
          </a:xfrm>
        </p:spPr>
        <p:txBody>
          <a:bodyPr>
            <a:normAutofit/>
          </a:bodyPr>
          <a:lstStyle/>
          <a:p>
            <a:pPr rtl="0">
              <a:spcBef>
                <a:spcPts val="0"/>
              </a:spcBef>
              <a:spcAft>
                <a:spcPts val="0"/>
              </a:spcAft>
            </a:pPr>
            <a:r>
              <a:rPr lang="en-US" sz="4000" b="1" i="0" u="none" strike="noStrike" dirty="0">
                <a:solidFill>
                  <a:srgbClr val="233A44"/>
                </a:solidFill>
                <a:effectLst/>
                <a:latin typeface="+mn-lt"/>
              </a:rPr>
              <a:t>Salary Project</a:t>
            </a:r>
            <a:br>
              <a:rPr lang="en-ID" sz="4000" b="1" i="0" u="none" strike="noStrike" dirty="0">
                <a:solidFill>
                  <a:srgbClr val="233A44"/>
                </a:solidFill>
                <a:effectLst/>
                <a:latin typeface="+mn-lt"/>
              </a:rPr>
            </a:br>
            <a:br>
              <a:rPr lang="en-ID" sz="4000" b="1" i="0" u="none" strike="noStrike" dirty="0">
                <a:solidFill>
                  <a:srgbClr val="233A44"/>
                </a:solidFill>
                <a:effectLst/>
                <a:latin typeface="+mn-lt"/>
              </a:rPr>
            </a:br>
            <a:r>
              <a:rPr lang="en-ID" sz="2400" b="1" i="0" u="none" strike="noStrike" dirty="0">
                <a:solidFill>
                  <a:srgbClr val="233A44"/>
                </a:solidFill>
                <a:effectLst/>
                <a:latin typeface="+mn-lt"/>
              </a:rPr>
              <a:t>TAKEN FROM CASE STUDY</a:t>
            </a:r>
            <a:br>
              <a:rPr lang="en-ID" sz="2400" b="1" i="0" u="none" strike="noStrike" dirty="0">
                <a:solidFill>
                  <a:srgbClr val="233A44"/>
                </a:solidFill>
                <a:effectLst/>
                <a:latin typeface="+mn-lt"/>
              </a:rPr>
            </a:br>
            <a:r>
              <a:rPr lang="en-ID" sz="2400" b="1" i="0" u="none" strike="noStrike" dirty="0">
                <a:solidFill>
                  <a:srgbClr val="233A44"/>
                </a:solidFill>
                <a:effectLst/>
                <a:latin typeface="+mn-lt"/>
              </a:rPr>
              <a:t>           Data Analytics</a:t>
            </a:r>
            <a:endParaRPr lang="en-ID" sz="16600" dirty="0">
              <a:latin typeface="+mn-lt"/>
            </a:endParaRPr>
          </a:p>
        </p:txBody>
      </p:sp>
      <p:sp>
        <p:nvSpPr>
          <p:cNvPr id="3" name="Subtitle 2">
            <a:extLst>
              <a:ext uri="{FF2B5EF4-FFF2-40B4-BE49-F238E27FC236}">
                <a16:creationId xmlns:a16="http://schemas.microsoft.com/office/drawing/2014/main" id="{43748CC3-90F3-4C62-8161-66F473BC5ADA}"/>
              </a:ext>
            </a:extLst>
          </p:cNvPr>
          <p:cNvSpPr>
            <a:spLocks noGrp="1"/>
          </p:cNvSpPr>
          <p:nvPr>
            <p:ph type="subTitle" idx="1"/>
          </p:nvPr>
        </p:nvSpPr>
        <p:spPr>
          <a:xfrm>
            <a:off x="1100051" y="4455620"/>
            <a:ext cx="10058400" cy="1024602"/>
          </a:xfrm>
        </p:spPr>
        <p:txBody>
          <a:bodyPr>
            <a:normAutofit/>
          </a:bodyPr>
          <a:lstStyle/>
          <a:p>
            <a:pPr algn="ctr">
              <a:spcBef>
                <a:spcPts val="0"/>
              </a:spcBef>
              <a:spcAft>
                <a:spcPts val="0"/>
              </a:spcAft>
            </a:pPr>
            <a:r>
              <a:rPr lang="en-IN" sz="2800" b="1" dirty="0">
                <a:solidFill>
                  <a:schemeClr val="accent2"/>
                </a:solidFill>
              </a:rPr>
              <a:t>Rakesh Jadhav</a:t>
            </a:r>
            <a:endParaRPr lang="en-ID" sz="2800" b="1" dirty="0">
              <a:solidFill>
                <a:schemeClr val="accent2"/>
              </a:solidFill>
            </a:endParaRPr>
          </a:p>
          <a:p>
            <a:pPr algn="ctr">
              <a:spcBef>
                <a:spcPts val="0"/>
              </a:spcBef>
              <a:spcAft>
                <a:spcPts val="0"/>
              </a:spcAft>
            </a:pPr>
            <a:r>
              <a:rPr lang="en-ID" sz="2800" dirty="0"/>
              <a:t>( 5 DEC – 25 DEC )</a:t>
            </a:r>
          </a:p>
          <a:p>
            <a:endParaRPr lang="en-ID" dirty="0">
              <a:latin typeface="+mn-lt"/>
            </a:endParaRPr>
          </a:p>
        </p:txBody>
      </p:sp>
      <p:sp>
        <p:nvSpPr>
          <p:cNvPr id="4" name="TextBox 3">
            <a:extLst>
              <a:ext uri="{FF2B5EF4-FFF2-40B4-BE49-F238E27FC236}">
                <a16:creationId xmlns:a16="http://schemas.microsoft.com/office/drawing/2014/main" id="{B8B37F46-F5B4-2B92-F403-2C9C5F6D5883}"/>
              </a:ext>
            </a:extLst>
          </p:cNvPr>
          <p:cNvSpPr txBox="1"/>
          <p:nvPr/>
        </p:nvSpPr>
        <p:spPr>
          <a:xfrm>
            <a:off x="1561708" y="319509"/>
            <a:ext cx="3101939" cy="830997"/>
          </a:xfrm>
          <a:prstGeom prst="rect">
            <a:avLst/>
          </a:prstGeom>
          <a:noFill/>
        </p:spPr>
        <p:txBody>
          <a:bodyPr wrap="none" rtlCol="0">
            <a:spAutoFit/>
          </a:bodyPr>
          <a:lstStyle/>
          <a:p>
            <a:r>
              <a:rPr lang="en-ID" sz="2400" dirty="0"/>
              <a:t>Portfolio Data Analytics</a:t>
            </a:r>
          </a:p>
          <a:p>
            <a:endParaRPr lang="en-ID" sz="2400" dirty="0"/>
          </a:p>
        </p:txBody>
      </p:sp>
    </p:spTree>
    <p:extLst>
      <p:ext uri="{BB962C8B-B14F-4D97-AF65-F5344CB8AC3E}">
        <p14:creationId xmlns:p14="http://schemas.microsoft.com/office/powerpoint/2010/main" val="1932568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CF7D-A369-4E51-87E4-5C9097E5A3D3}"/>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Case Study Instructions</a:t>
            </a:r>
            <a:endParaRPr lang="en-ID" sz="7200" dirty="0">
              <a:solidFill>
                <a:schemeClr val="tx1"/>
              </a:solidFill>
              <a:latin typeface="+mn-lt"/>
            </a:endParaRPr>
          </a:p>
        </p:txBody>
      </p:sp>
      <p:sp>
        <p:nvSpPr>
          <p:cNvPr id="5" name="TextBox 4">
            <a:extLst>
              <a:ext uri="{FF2B5EF4-FFF2-40B4-BE49-F238E27FC236}">
                <a16:creationId xmlns:a16="http://schemas.microsoft.com/office/drawing/2014/main" id="{13220DE1-6BE0-231C-359F-5C637482A346}"/>
              </a:ext>
            </a:extLst>
          </p:cNvPr>
          <p:cNvSpPr txBox="1"/>
          <p:nvPr/>
        </p:nvSpPr>
        <p:spPr>
          <a:xfrm>
            <a:off x="1066800" y="1894445"/>
            <a:ext cx="2443105" cy="880369"/>
          </a:xfrm>
          <a:prstGeom prst="rect">
            <a:avLst/>
          </a:prstGeom>
          <a:noFill/>
        </p:spPr>
        <p:txBody>
          <a:bodyPr wrap="none" rtlCol="0">
            <a:spAutoFit/>
          </a:bodyPr>
          <a:lstStyle/>
          <a:p>
            <a:pPr>
              <a:lnSpc>
                <a:spcPct val="150000"/>
              </a:lnSpc>
            </a:pPr>
            <a:r>
              <a:rPr lang="en-ID" dirty="0">
                <a:cs typeface="Times New Roman" panose="02020603050405020304" pitchFamily="18" charset="0"/>
              </a:rPr>
              <a:t>Table of interest :</a:t>
            </a:r>
          </a:p>
          <a:p>
            <a:pPr>
              <a:lnSpc>
                <a:spcPct val="150000"/>
              </a:lnSpc>
            </a:pPr>
            <a:r>
              <a:rPr lang="en-ID" dirty="0">
                <a:cs typeface="Times New Roman" panose="02020603050405020304" pitchFamily="18" charset="0"/>
              </a:rPr>
              <a:t>		Salary Dataset</a:t>
            </a:r>
          </a:p>
        </p:txBody>
      </p:sp>
      <p:sp>
        <p:nvSpPr>
          <p:cNvPr id="7" name="TextBox 6">
            <a:extLst>
              <a:ext uri="{FF2B5EF4-FFF2-40B4-BE49-F238E27FC236}">
                <a16:creationId xmlns:a16="http://schemas.microsoft.com/office/drawing/2014/main" id="{7E313841-EC32-924E-25A1-4D2EB6354E9C}"/>
              </a:ext>
            </a:extLst>
          </p:cNvPr>
          <p:cNvSpPr txBox="1"/>
          <p:nvPr/>
        </p:nvSpPr>
        <p:spPr>
          <a:xfrm>
            <a:off x="1066801" y="2924859"/>
            <a:ext cx="10830128" cy="2542363"/>
          </a:xfrm>
          <a:prstGeom prst="rect">
            <a:avLst/>
          </a:prstGeom>
          <a:noFill/>
        </p:spPr>
        <p:txBody>
          <a:bodyPr wrap="square" rtlCol="0">
            <a:spAutoFit/>
          </a:bodyPr>
          <a:lstStyle/>
          <a:p>
            <a:pPr marL="342900" indent="-342900">
              <a:lnSpc>
                <a:spcPct val="150000"/>
              </a:lnSpc>
              <a:buAutoNum type="arabicPeriod"/>
            </a:pPr>
            <a:r>
              <a:rPr lang="en-US" dirty="0">
                <a:cs typeface="Times New Roman" panose="02020603050405020304" pitchFamily="18" charset="0"/>
              </a:rPr>
              <a:t>Look at this data and start thinking. List down 3 trends/points that you want to show.</a:t>
            </a:r>
          </a:p>
          <a:p>
            <a:pPr marL="342900" indent="-342900">
              <a:lnSpc>
                <a:spcPct val="150000"/>
              </a:lnSpc>
              <a:buAutoNum type="arabicPeriod"/>
            </a:pPr>
            <a:r>
              <a:rPr lang="en-US" dirty="0">
                <a:cs typeface="Times New Roman" panose="02020603050405020304" pitchFamily="18" charset="0"/>
              </a:rPr>
              <a:t>From here, try to explore the data and make changes, filter, and prepare the data that you need.</a:t>
            </a:r>
          </a:p>
          <a:p>
            <a:pPr marL="342900" indent="-342900">
              <a:lnSpc>
                <a:spcPct val="150000"/>
              </a:lnSpc>
              <a:buAutoNum type="arabicPeriod"/>
            </a:pPr>
            <a:r>
              <a:rPr lang="en-US" dirty="0">
                <a:cs typeface="Times New Roman" panose="02020603050405020304" pitchFamily="18" charset="0"/>
              </a:rPr>
              <a:t>Create some visualizations or dashboard with the best type of chart you have learned.</a:t>
            </a:r>
          </a:p>
          <a:p>
            <a:pPr marL="354013" indent="-269875">
              <a:lnSpc>
                <a:spcPct val="150000"/>
              </a:lnSpc>
            </a:pPr>
            <a:r>
              <a:rPr lang="en-US" dirty="0">
                <a:cs typeface="Times New Roman" panose="02020603050405020304" pitchFamily="18" charset="0"/>
              </a:rPr>
              <a:t>	The easiest is with Google Data Studio or Google Sheets.</a:t>
            </a:r>
          </a:p>
          <a:p>
            <a:pPr marL="342900" indent="-342900">
              <a:lnSpc>
                <a:spcPct val="150000"/>
              </a:lnSpc>
              <a:buAutoNum type="arabicPeriod" startAt="4"/>
            </a:pPr>
            <a:r>
              <a:rPr lang="en-US" dirty="0">
                <a:cs typeface="Times New Roman" panose="02020603050405020304" pitchFamily="18" charset="0"/>
              </a:rPr>
              <a:t>Then, make 1-2 slides from the Graphs with the insights you got to present your </a:t>
            </a:r>
            <a:r>
              <a:rPr lang="en-US" dirty="0" err="1">
                <a:cs typeface="Times New Roman" panose="02020603050405020304" pitchFamily="18" charset="0"/>
              </a:rPr>
              <a:t>findingsto</a:t>
            </a:r>
            <a:r>
              <a:rPr lang="en-US" dirty="0">
                <a:cs typeface="Times New Roman" panose="02020603050405020304" pitchFamily="18" charset="0"/>
              </a:rPr>
              <a:t> the stakeholders (read this article from HBR)</a:t>
            </a:r>
            <a:endParaRPr lang="en-ID" dirty="0">
              <a:cs typeface="Times New Roman" panose="02020603050405020304" pitchFamily="18" charset="0"/>
            </a:endParaRPr>
          </a:p>
        </p:txBody>
      </p:sp>
      <p:sp>
        <p:nvSpPr>
          <p:cNvPr id="6" name="TextBox 5">
            <a:extLst>
              <a:ext uri="{FF2B5EF4-FFF2-40B4-BE49-F238E27FC236}">
                <a16:creationId xmlns:a16="http://schemas.microsoft.com/office/drawing/2014/main" id="{1B8C254F-3F1B-30DE-1A2C-88366804F468}"/>
              </a:ext>
            </a:extLst>
          </p:cNvPr>
          <p:cNvSpPr txBox="1"/>
          <p:nvPr/>
        </p:nvSpPr>
        <p:spPr>
          <a:xfrm>
            <a:off x="1066800" y="1364170"/>
            <a:ext cx="1173078" cy="369332"/>
          </a:xfrm>
          <a:prstGeom prst="rect">
            <a:avLst/>
          </a:prstGeom>
          <a:noFill/>
        </p:spPr>
        <p:txBody>
          <a:bodyPr wrap="none" rtlCol="0">
            <a:spAutoFit/>
          </a:bodyPr>
          <a:lstStyle/>
          <a:p>
            <a:r>
              <a:rPr lang="en-ID" dirty="0"/>
              <a:t>QUESTION</a:t>
            </a:r>
          </a:p>
        </p:txBody>
      </p:sp>
    </p:spTree>
    <p:extLst>
      <p:ext uri="{BB962C8B-B14F-4D97-AF65-F5344CB8AC3E}">
        <p14:creationId xmlns:p14="http://schemas.microsoft.com/office/powerpoint/2010/main" val="278551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1826077" cy="369332"/>
          </a:xfrm>
          <a:prstGeom prst="rect">
            <a:avLst/>
          </a:prstGeom>
          <a:noFill/>
        </p:spPr>
        <p:txBody>
          <a:bodyPr wrap="none" rtlCol="0">
            <a:spAutoFit/>
          </a:bodyPr>
          <a:lstStyle/>
          <a:p>
            <a:r>
              <a:rPr lang="en-ID" dirty="0"/>
              <a:t>Info from Dataset</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sp>
        <p:nvSpPr>
          <p:cNvPr id="5" name="TextBox 4">
            <a:extLst>
              <a:ext uri="{FF2B5EF4-FFF2-40B4-BE49-F238E27FC236}">
                <a16:creationId xmlns:a16="http://schemas.microsoft.com/office/drawing/2014/main" id="{30A59211-1436-6EAB-C20C-313A1E7D1B22}"/>
              </a:ext>
            </a:extLst>
          </p:cNvPr>
          <p:cNvSpPr txBox="1"/>
          <p:nvPr/>
        </p:nvSpPr>
        <p:spPr>
          <a:xfrm>
            <a:off x="5400753" y="1905836"/>
            <a:ext cx="5724448"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t>From this information, it can be seen that:</a:t>
            </a:r>
          </a:p>
          <a:p>
            <a:pPr marL="285750" indent="-285750">
              <a:buFont typeface="Arial" panose="020B0604020202020204" pitchFamily="34" charset="0"/>
              <a:buChar char="•"/>
            </a:pPr>
            <a:r>
              <a:rPr lang="en-US" sz="1600" dirty="0"/>
              <a:t>There are 11 columns and the amount of data varies is 607 data</a:t>
            </a:r>
          </a:p>
          <a:p>
            <a:pPr marL="285750" indent="-285750">
              <a:buFont typeface="Arial" panose="020B0604020202020204" pitchFamily="34" charset="0"/>
              <a:buChar char="•"/>
            </a:pPr>
            <a:r>
              <a:rPr lang="en-US" sz="1600" dirty="0"/>
              <a:t>The data type of the salary dataset are int64 and object</a:t>
            </a:r>
          </a:p>
        </p:txBody>
      </p:sp>
      <p:pic>
        <p:nvPicPr>
          <p:cNvPr id="3" name="Picture 2">
            <a:extLst>
              <a:ext uri="{FF2B5EF4-FFF2-40B4-BE49-F238E27FC236}">
                <a16:creationId xmlns:a16="http://schemas.microsoft.com/office/drawing/2014/main" id="{FAB8C50D-FA74-6EAB-2BF0-0DAA7F7C8A8F}"/>
              </a:ext>
            </a:extLst>
          </p:cNvPr>
          <p:cNvPicPr>
            <a:picLocks noChangeAspect="1"/>
          </p:cNvPicPr>
          <p:nvPr/>
        </p:nvPicPr>
        <p:blipFill>
          <a:blip r:embed="rId2"/>
          <a:stretch>
            <a:fillRect/>
          </a:stretch>
        </p:blipFill>
        <p:spPr>
          <a:xfrm>
            <a:off x="1066800" y="1905836"/>
            <a:ext cx="3948815" cy="3928407"/>
          </a:xfrm>
          <a:prstGeom prst="rect">
            <a:avLst/>
          </a:prstGeom>
        </p:spPr>
      </p:pic>
    </p:spTree>
    <p:extLst>
      <p:ext uri="{BB962C8B-B14F-4D97-AF65-F5344CB8AC3E}">
        <p14:creationId xmlns:p14="http://schemas.microsoft.com/office/powerpoint/2010/main" val="2265897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4101700"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Preview the Dataset before data cleaning:</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pic>
        <p:nvPicPr>
          <p:cNvPr id="4" name="Picture 3">
            <a:extLst>
              <a:ext uri="{FF2B5EF4-FFF2-40B4-BE49-F238E27FC236}">
                <a16:creationId xmlns:a16="http://schemas.microsoft.com/office/drawing/2014/main" id="{3225B96A-F4DF-4DEF-AE38-C94812FB35C6}"/>
              </a:ext>
            </a:extLst>
          </p:cNvPr>
          <p:cNvPicPr>
            <a:picLocks noChangeAspect="1"/>
          </p:cNvPicPr>
          <p:nvPr/>
        </p:nvPicPr>
        <p:blipFill rotWithShape="1">
          <a:blip r:embed="rId2"/>
          <a:srcRect t="1791" r="725"/>
          <a:stretch/>
        </p:blipFill>
        <p:spPr>
          <a:xfrm>
            <a:off x="399557" y="1968758"/>
            <a:ext cx="11310362" cy="3450201"/>
          </a:xfrm>
          <a:prstGeom prst="rect">
            <a:avLst/>
          </a:prstGeom>
        </p:spPr>
      </p:pic>
    </p:spTree>
    <p:extLst>
      <p:ext uri="{BB962C8B-B14F-4D97-AF65-F5344CB8AC3E}">
        <p14:creationId xmlns:p14="http://schemas.microsoft.com/office/powerpoint/2010/main" val="213365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27E5DE8-977C-5D89-C676-A2912727BD4F}"/>
              </a:ext>
            </a:extLst>
          </p:cNvPr>
          <p:cNvSpPr txBox="1"/>
          <p:nvPr/>
        </p:nvSpPr>
        <p:spPr>
          <a:xfrm>
            <a:off x="1066800" y="1819132"/>
            <a:ext cx="10058400" cy="646331"/>
          </a:xfrm>
          <a:prstGeom prst="rect">
            <a:avLst/>
          </a:prstGeom>
          <a:noFill/>
        </p:spPr>
        <p:txBody>
          <a:bodyPr wrap="square" rtlCol="0">
            <a:spAutoFit/>
          </a:bodyPr>
          <a:lstStyle/>
          <a:p>
            <a:r>
              <a:rPr lang="en-ID" dirty="0">
                <a:latin typeface="Calibri" panose="020F0502020204030204" pitchFamily="34" charset="0"/>
                <a:cs typeface="Calibri" panose="020F0502020204030204" pitchFamily="34" charset="0"/>
              </a:rPr>
              <a:t>Messy data is a common problem you’d likely face when you have data from sources like spreadsheets. It is important to clean your data before doing any analysis.</a:t>
            </a:r>
          </a:p>
        </p:txBody>
      </p:sp>
      <p:sp>
        <p:nvSpPr>
          <p:cNvPr id="9" name="TextBox 8">
            <a:extLst>
              <a:ext uri="{FF2B5EF4-FFF2-40B4-BE49-F238E27FC236}">
                <a16:creationId xmlns:a16="http://schemas.microsoft.com/office/drawing/2014/main" id="{CCA3B1E5-DF29-AB8E-8373-6209410E4C79}"/>
              </a:ext>
            </a:extLst>
          </p:cNvPr>
          <p:cNvSpPr txBox="1"/>
          <p:nvPr/>
        </p:nvSpPr>
        <p:spPr>
          <a:xfrm>
            <a:off x="1066800" y="2598905"/>
            <a:ext cx="10058400" cy="2693045"/>
          </a:xfrm>
          <a:prstGeom prst="rect">
            <a:avLst/>
          </a:prstGeom>
          <a:noFill/>
        </p:spPr>
        <p:txBody>
          <a:bodyPr wrap="square" rtlCol="0">
            <a:spAutoFit/>
          </a:bodyPr>
          <a:lstStyle/>
          <a:p>
            <a:pPr>
              <a:spcAft>
                <a:spcPts val="600"/>
              </a:spcAft>
            </a:pPr>
            <a:r>
              <a:rPr lang="en-US" dirty="0">
                <a:latin typeface="Calibri" panose="020F0502020204030204" pitchFamily="34" charset="0"/>
                <a:cs typeface="Calibri" panose="020F0502020204030204" pitchFamily="34" charset="0"/>
              </a:rPr>
              <a:t>Things to do in data cleaning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Change data type</a:t>
            </a:r>
            <a:r>
              <a:rPr lang="en-US" dirty="0">
                <a:latin typeface="Calibri" panose="020F0502020204030204" pitchFamily="34" charset="0"/>
                <a:cs typeface="Calibri" panose="020F0502020204030204" pitchFamily="34" charset="0"/>
              </a:rPr>
              <a:t>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duplicated data</a:t>
            </a:r>
            <a:r>
              <a:rPr lang="en-US" dirty="0">
                <a:latin typeface="Calibri" panose="020F0502020204030204" pitchFamily="34" charset="0"/>
                <a:cs typeface="Calibri" panose="020F0502020204030204" pitchFamily="34" charset="0"/>
              </a:rPr>
              <a:t> : from 607 data to 562 data, where there are 45 duplicate data, which is 7.41% of the total data.</a:t>
            </a:r>
            <a:endParaRPr lang="id-ID" dirty="0">
              <a:latin typeface="Calibri" panose="020F0502020204030204" pitchFamily="34" charset="0"/>
              <a:cs typeface="Calibri" panose="020F0502020204030204" pitchFamily="34" charset="0"/>
            </a:endParaRP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empty data</a:t>
            </a:r>
            <a:r>
              <a:rPr lang="en-US" dirty="0">
                <a:latin typeface="Calibri" panose="020F0502020204030204" pitchFamily="34" charset="0"/>
                <a:cs typeface="Calibri" panose="020F0502020204030204" pitchFamily="34" charset="0"/>
              </a:rPr>
              <a:t>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outliers</a:t>
            </a:r>
            <a:r>
              <a:rPr lang="en-US" dirty="0">
                <a:latin typeface="Calibri" panose="020F0502020204030204" pitchFamily="34" charset="0"/>
                <a:cs typeface="Calibri" panose="020F0502020204030204" pitchFamily="34" charset="0"/>
              </a:rPr>
              <a:t> : Delete data that has a value that exceeds the upper and lower limits (data outliers) in the ‘</a:t>
            </a:r>
            <a:r>
              <a:rPr lang="en-US" dirty="0" err="1">
                <a:latin typeface="Calibri" panose="020F0502020204030204" pitchFamily="34" charset="0"/>
                <a:cs typeface="Calibri" panose="020F0502020204030204" pitchFamily="34" charset="0"/>
              </a:rPr>
              <a:t>salary_in_usd</a:t>
            </a:r>
            <a:r>
              <a:rPr lang="en-US" dirty="0">
                <a:latin typeface="Calibri" panose="020F0502020204030204" pitchFamily="34" charset="0"/>
                <a:cs typeface="Calibri" panose="020F0502020204030204" pitchFamily="34" charset="0"/>
              </a:rPr>
              <a:t>' column, so that the total data becomes 552.</a:t>
            </a:r>
            <a:endParaRPr lang="id-ID" dirty="0">
              <a:latin typeface="Calibri" panose="020F0502020204030204" pitchFamily="34" charset="0"/>
              <a:cs typeface="Calibri" panose="020F0502020204030204" pitchFamily="34" charset="0"/>
            </a:endParaRP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unnecessary data</a:t>
            </a:r>
            <a:endParaRPr lang="en-ID" dirty="0">
              <a:latin typeface="Calibri" panose="020F0502020204030204" pitchFamily="34" charset="0"/>
              <a:cs typeface="Calibri" panose="020F0502020204030204" pitchFamily="34" charset="0"/>
            </a:endParaRPr>
          </a:p>
        </p:txBody>
      </p:sp>
      <p:sp>
        <p:nvSpPr>
          <p:cNvPr id="13" name="Title 1">
            <a:extLst>
              <a:ext uri="{FF2B5EF4-FFF2-40B4-BE49-F238E27FC236}">
                <a16:creationId xmlns:a16="http://schemas.microsoft.com/office/drawing/2014/main" id="{CE2C7054-2C85-68F7-4F32-A57504A3EC81}"/>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Python and Data Cleaning</a:t>
            </a:r>
            <a:endParaRPr lang="en-ID" sz="1800" b="0" dirty="0">
              <a:solidFill>
                <a:schemeClr val="tx1"/>
              </a:solidFill>
              <a:effectLst/>
              <a:latin typeface="+mn-lt"/>
            </a:endParaRPr>
          </a:p>
        </p:txBody>
      </p:sp>
      <p:sp>
        <p:nvSpPr>
          <p:cNvPr id="14" name="TextBox 13">
            <a:extLst>
              <a:ext uri="{FF2B5EF4-FFF2-40B4-BE49-F238E27FC236}">
                <a16:creationId xmlns:a16="http://schemas.microsoft.com/office/drawing/2014/main" id="{C8EADFD8-690F-FC12-6722-CAC50AEA9596}"/>
              </a:ext>
            </a:extLst>
          </p:cNvPr>
          <p:cNvSpPr txBox="1"/>
          <p:nvPr/>
        </p:nvSpPr>
        <p:spPr>
          <a:xfrm>
            <a:off x="1066800" y="1316358"/>
            <a:ext cx="1481368"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Data Cleaning</a:t>
            </a:r>
          </a:p>
        </p:txBody>
      </p:sp>
    </p:spTree>
    <p:extLst>
      <p:ext uri="{BB962C8B-B14F-4D97-AF65-F5344CB8AC3E}">
        <p14:creationId xmlns:p14="http://schemas.microsoft.com/office/powerpoint/2010/main" val="110595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3936270"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Preview the Dataset after data cleaning:</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Python and Data Cleaning</a:t>
            </a:r>
            <a:endParaRPr lang="en-ID" sz="1800" b="0" dirty="0">
              <a:solidFill>
                <a:schemeClr val="tx1"/>
              </a:solidFill>
              <a:effectLst/>
              <a:latin typeface="+mn-lt"/>
            </a:endParaRPr>
          </a:p>
        </p:txBody>
      </p:sp>
      <p:pic>
        <p:nvPicPr>
          <p:cNvPr id="3" name="Picture 2">
            <a:extLst>
              <a:ext uri="{FF2B5EF4-FFF2-40B4-BE49-F238E27FC236}">
                <a16:creationId xmlns:a16="http://schemas.microsoft.com/office/drawing/2014/main" id="{26F01257-D22B-56BC-E228-E6DA82A2F722}"/>
              </a:ext>
            </a:extLst>
          </p:cNvPr>
          <p:cNvPicPr>
            <a:picLocks noChangeAspect="1"/>
          </p:cNvPicPr>
          <p:nvPr/>
        </p:nvPicPr>
        <p:blipFill>
          <a:blip r:embed="rId2"/>
          <a:stretch>
            <a:fillRect/>
          </a:stretch>
        </p:blipFill>
        <p:spPr>
          <a:xfrm>
            <a:off x="487194" y="1905836"/>
            <a:ext cx="11217612" cy="3368332"/>
          </a:xfrm>
          <a:prstGeom prst="rect">
            <a:avLst/>
          </a:prstGeom>
        </p:spPr>
      </p:pic>
    </p:spTree>
    <p:extLst>
      <p:ext uri="{BB962C8B-B14F-4D97-AF65-F5344CB8AC3E}">
        <p14:creationId xmlns:p14="http://schemas.microsoft.com/office/powerpoint/2010/main" val="109075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881188"/>
            <a:ext cx="2678682" cy="369332"/>
          </a:xfrm>
          <a:prstGeom prst="rect">
            <a:avLst/>
          </a:prstGeom>
          <a:noFill/>
        </p:spPr>
        <p:txBody>
          <a:bodyPr wrap="none" rtlCol="0">
            <a:spAutoFit/>
          </a:bodyPr>
          <a:lstStyle/>
          <a:p>
            <a:r>
              <a:rPr lang="en-ID" dirty="0"/>
              <a:t>Schema from the Dataset :</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sp>
        <p:nvSpPr>
          <p:cNvPr id="11" name="Rectangle 10">
            <a:extLst>
              <a:ext uri="{FF2B5EF4-FFF2-40B4-BE49-F238E27FC236}">
                <a16:creationId xmlns:a16="http://schemas.microsoft.com/office/drawing/2014/main" id="{CE17C6E6-F42C-1E60-6C9F-DCB9EEF73FBC}"/>
              </a:ext>
            </a:extLst>
          </p:cNvPr>
          <p:cNvSpPr/>
          <p:nvPr/>
        </p:nvSpPr>
        <p:spPr>
          <a:xfrm>
            <a:off x="1066800" y="1578642"/>
            <a:ext cx="10163175" cy="3025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751000CE-DE9E-9FE5-115A-AB687D7BA6D0}"/>
              </a:ext>
            </a:extLst>
          </p:cNvPr>
          <p:cNvSpPr txBox="1"/>
          <p:nvPr/>
        </p:nvSpPr>
        <p:spPr>
          <a:xfrm>
            <a:off x="1066800" y="1255477"/>
            <a:ext cx="5543550" cy="646331"/>
          </a:xfrm>
          <a:prstGeom prst="rect">
            <a:avLst/>
          </a:prstGeom>
          <a:noFill/>
        </p:spPr>
        <p:txBody>
          <a:bodyPr wrap="square" rtlCol="0">
            <a:spAutoFit/>
          </a:bodyPr>
          <a:lstStyle/>
          <a:p>
            <a:r>
              <a:rPr lang="en-US" dirty="0"/>
              <a:t>After cleaning the data in python on Google </a:t>
            </a:r>
            <a:r>
              <a:rPr lang="en-US" dirty="0" err="1"/>
              <a:t>Colab</a:t>
            </a:r>
            <a:r>
              <a:rPr lang="en-US" dirty="0"/>
              <a:t>, then we make a query from the data with </a:t>
            </a:r>
            <a:r>
              <a:rPr lang="en-US" dirty="0" err="1"/>
              <a:t>BigQuery</a:t>
            </a:r>
            <a:endParaRPr lang="en-ID" dirty="0"/>
          </a:p>
        </p:txBody>
      </p:sp>
      <p:pic>
        <p:nvPicPr>
          <p:cNvPr id="3" name="Picture 2">
            <a:extLst>
              <a:ext uri="{FF2B5EF4-FFF2-40B4-BE49-F238E27FC236}">
                <a16:creationId xmlns:a16="http://schemas.microsoft.com/office/drawing/2014/main" id="{A3B82D45-F1D1-8ED6-C4B0-A17EC9078550}"/>
              </a:ext>
            </a:extLst>
          </p:cNvPr>
          <p:cNvPicPr>
            <a:picLocks noChangeAspect="1"/>
          </p:cNvPicPr>
          <p:nvPr/>
        </p:nvPicPr>
        <p:blipFill>
          <a:blip r:embed="rId2"/>
          <a:stretch>
            <a:fillRect/>
          </a:stretch>
        </p:blipFill>
        <p:spPr>
          <a:xfrm>
            <a:off x="1066800" y="2250520"/>
            <a:ext cx="2886075" cy="3443509"/>
          </a:xfrm>
          <a:prstGeom prst="rect">
            <a:avLst/>
          </a:prstGeom>
        </p:spPr>
      </p:pic>
      <p:pic>
        <p:nvPicPr>
          <p:cNvPr id="9" name="Picture 8">
            <a:extLst>
              <a:ext uri="{FF2B5EF4-FFF2-40B4-BE49-F238E27FC236}">
                <a16:creationId xmlns:a16="http://schemas.microsoft.com/office/drawing/2014/main" id="{BE224655-E39F-D328-954F-BC47C2F142D2}"/>
              </a:ext>
            </a:extLst>
          </p:cNvPr>
          <p:cNvPicPr>
            <a:picLocks noChangeAspect="1"/>
          </p:cNvPicPr>
          <p:nvPr/>
        </p:nvPicPr>
        <p:blipFill>
          <a:blip r:embed="rId3"/>
          <a:stretch>
            <a:fillRect/>
          </a:stretch>
        </p:blipFill>
        <p:spPr>
          <a:xfrm>
            <a:off x="7010400" y="880912"/>
            <a:ext cx="3895725" cy="4909139"/>
          </a:xfrm>
          <a:prstGeom prst="rect">
            <a:avLst/>
          </a:prstGeom>
        </p:spPr>
      </p:pic>
      <p:sp>
        <p:nvSpPr>
          <p:cNvPr id="12" name="TextBox 11">
            <a:extLst>
              <a:ext uri="{FF2B5EF4-FFF2-40B4-BE49-F238E27FC236}">
                <a16:creationId xmlns:a16="http://schemas.microsoft.com/office/drawing/2014/main" id="{E4B70CA7-717F-7990-52C4-FB1E70DD5A9A}"/>
              </a:ext>
            </a:extLst>
          </p:cNvPr>
          <p:cNvSpPr txBox="1"/>
          <p:nvPr/>
        </p:nvSpPr>
        <p:spPr>
          <a:xfrm>
            <a:off x="6941674" y="515512"/>
            <a:ext cx="1373068" cy="369332"/>
          </a:xfrm>
          <a:prstGeom prst="rect">
            <a:avLst/>
          </a:prstGeom>
          <a:noFill/>
        </p:spPr>
        <p:txBody>
          <a:bodyPr wrap="none" rtlCol="0">
            <a:spAutoFit/>
          </a:bodyPr>
          <a:lstStyle/>
          <a:p>
            <a:r>
              <a:rPr lang="en-ID" dirty="0"/>
              <a:t>Description :</a:t>
            </a:r>
          </a:p>
        </p:txBody>
      </p:sp>
      <p:sp>
        <p:nvSpPr>
          <p:cNvPr id="13" name="TextBox 12">
            <a:extLst>
              <a:ext uri="{FF2B5EF4-FFF2-40B4-BE49-F238E27FC236}">
                <a16:creationId xmlns:a16="http://schemas.microsoft.com/office/drawing/2014/main" id="{80B5DD2B-A4EB-6492-5C57-03A5C5D79763}"/>
              </a:ext>
            </a:extLst>
          </p:cNvPr>
          <p:cNvSpPr txBox="1"/>
          <p:nvPr/>
        </p:nvSpPr>
        <p:spPr>
          <a:xfrm>
            <a:off x="1012581" y="5732312"/>
            <a:ext cx="10217394" cy="584775"/>
          </a:xfrm>
          <a:prstGeom prst="rect">
            <a:avLst/>
          </a:prstGeom>
          <a:noFill/>
        </p:spPr>
        <p:txBody>
          <a:bodyPr wrap="square" rtlCol="0">
            <a:spAutoFit/>
          </a:bodyPr>
          <a:lstStyle/>
          <a:p>
            <a:r>
              <a:rPr lang="en-US" sz="1600" dirty="0"/>
              <a:t>From this data preview, we can find out the description of each column and know which columns can be used to answer problems or which columns can be useful for finding new insights.</a:t>
            </a:r>
            <a:endParaRPr lang="en-ID" sz="1600" dirty="0"/>
          </a:p>
        </p:txBody>
      </p:sp>
    </p:spTree>
    <p:extLst>
      <p:ext uri="{BB962C8B-B14F-4D97-AF65-F5344CB8AC3E}">
        <p14:creationId xmlns:p14="http://schemas.microsoft.com/office/powerpoint/2010/main" val="364533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F770AD-A1E2-0CC9-15B2-D1B2E8339B5C}"/>
              </a:ext>
            </a:extLst>
          </p:cNvPr>
          <p:cNvSpPr txBox="1"/>
          <p:nvPr/>
        </p:nvSpPr>
        <p:spPr>
          <a:xfrm>
            <a:off x="1066800" y="1096212"/>
            <a:ext cx="1902444" cy="369332"/>
          </a:xfrm>
          <a:prstGeom prst="rect">
            <a:avLst/>
          </a:prstGeom>
          <a:noFill/>
        </p:spPr>
        <p:txBody>
          <a:bodyPr wrap="none" rtlCol="0">
            <a:spAutoFit/>
          </a:bodyPr>
          <a:lstStyle/>
          <a:p>
            <a:r>
              <a:rPr lang="en-ID" dirty="0"/>
              <a:t>Preview the Data :</a:t>
            </a:r>
          </a:p>
        </p:txBody>
      </p:sp>
      <p:sp>
        <p:nvSpPr>
          <p:cNvPr id="9" name="Title 1">
            <a:extLst>
              <a:ext uri="{FF2B5EF4-FFF2-40B4-BE49-F238E27FC236}">
                <a16:creationId xmlns:a16="http://schemas.microsoft.com/office/drawing/2014/main" id="{DD13760B-CEBD-8FF7-921A-CDCD4E20E3EA}"/>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pic>
        <p:nvPicPr>
          <p:cNvPr id="3" name="Picture 2">
            <a:extLst>
              <a:ext uri="{FF2B5EF4-FFF2-40B4-BE49-F238E27FC236}">
                <a16:creationId xmlns:a16="http://schemas.microsoft.com/office/drawing/2014/main" id="{E32C010E-3658-1373-B9CF-6ED5EB52E118}"/>
              </a:ext>
            </a:extLst>
          </p:cNvPr>
          <p:cNvPicPr>
            <a:picLocks noChangeAspect="1"/>
          </p:cNvPicPr>
          <p:nvPr/>
        </p:nvPicPr>
        <p:blipFill>
          <a:blip r:embed="rId2"/>
          <a:stretch>
            <a:fillRect/>
          </a:stretch>
        </p:blipFill>
        <p:spPr>
          <a:xfrm>
            <a:off x="430039" y="1779127"/>
            <a:ext cx="11331922" cy="3299746"/>
          </a:xfrm>
          <a:prstGeom prst="rect">
            <a:avLst/>
          </a:prstGeom>
        </p:spPr>
      </p:pic>
    </p:spTree>
    <p:extLst>
      <p:ext uri="{BB962C8B-B14F-4D97-AF65-F5344CB8AC3E}">
        <p14:creationId xmlns:p14="http://schemas.microsoft.com/office/powerpoint/2010/main" val="297065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A78116-DCE0-4AAF-8126-46847B70DE1A}"/>
              </a:ext>
            </a:extLst>
          </p:cNvPr>
          <p:cNvSpPr txBox="1"/>
          <p:nvPr/>
        </p:nvSpPr>
        <p:spPr>
          <a:xfrm>
            <a:off x="1066800" y="1912131"/>
            <a:ext cx="4863832" cy="369332"/>
          </a:xfrm>
          <a:prstGeom prst="rect">
            <a:avLst/>
          </a:prstGeom>
          <a:noFill/>
        </p:spPr>
        <p:txBody>
          <a:bodyPr wrap="none" rtlCol="0">
            <a:spAutoFit/>
          </a:bodyPr>
          <a:lstStyle/>
          <a:p>
            <a:r>
              <a:rPr lang="en-US" dirty="0">
                <a:cs typeface="Times New Roman" panose="02020603050405020304" pitchFamily="18" charset="0"/>
              </a:rPr>
              <a:t>List down trends/points that you want to show	:</a:t>
            </a:r>
            <a:endParaRPr lang="en-ID" dirty="0"/>
          </a:p>
        </p:txBody>
      </p:sp>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Defining Question</a:t>
            </a:r>
            <a:endParaRPr lang="en-ID" sz="7200" dirty="0">
              <a:solidFill>
                <a:schemeClr val="tx1"/>
              </a:solidFill>
              <a:latin typeface="+mn-lt"/>
            </a:endParaRPr>
          </a:p>
        </p:txBody>
      </p:sp>
      <p:sp>
        <p:nvSpPr>
          <p:cNvPr id="14" name="TextBox 13">
            <a:extLst>
              <a:ext uri="{FF2B5EF4-FFF2-40B4-BE49-F238E27FC236}">
                <a16:creationId xmlns:a16="http://schemas.microsoft.com/office/drawing/2014/main" id="{4BDECECA-E7DD-54DB-5824-0C89AD2313C3}"/>
              </a:ext>
            </a:extLst>
          </p:cNvPr>
          <p:cNvSpPr txBox="1"/>
          <p:nvPr/>
        </p:nvSpPr>
        <p:spPr>
          <a:xfrm>
            <a:off x="1066800" y="2321804"/>
            <a:ext cx="7086600" cy="2542363"/>
          </a:xfrm>
          <a:prstGeom prst="rect">
            <a:avLst/>
          </a:prstGeom>
          <a:noFill/>
        </p:spPr>
        <p:txBody>
          <a:bodyPr wrap="square" rtlCol="0">
            <a:spAutoFit/>
          </a:bodyPr>
          <a:lstStyle/>
          <a:p>
            <a:pPr marL="342900" indent="-342900">
              <a:lnSpc>
                <a:spcPct val="150000"/>
              </a:lnSpc>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experience level every year</a:t>
            </a:r>
          </a:p>
          <a:p>
            <a:pPr marL="342900" indent="-342900">
              <a:lnSpc>
                <a:spcPct val="150000"/>
              </a:lnSpc>
              <a:buFontTx/>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job title every year</a:t>
            </a:r>
          </a:p>
          <a:p>
            <a:pPr marL="342900" indent="-342900">
              <a:lnSpc>
                <a:spcPct val="150000"/>
              </a:lnSpc>
              <a:buAutoNum type="arabicPeriod"/>
            </a:pPr>
            <a:r>
              <a:rPr lang="en-US" dirty="0">
                <a:cs typeface="Times New Roman" panose="02020603050405020304" pitchFamily="18" charset="0"/>
              </a:rPr>
              <a:t>What jobs have the highest and lowest salaries?</a:t>
            </a:r>
          </a:p>
          <a:p>
            <a:pPr marL="342900" indent="-342900">
              <a:lnSpc>
                <a:spcPct val="150000"/>
              </a:lnSpc>
              <a:buAutoNum type="arabicPeriod"/>
            </a:pPr>
            <a:r>
              <a:rPr lang="en-US" dirty="0">
                <a:cs typeface="Times New Roman" panose="02020603050405020304" pitchFamily="18" charset="0"/>
              </a:rPr>
              <a:t>What types of </a:t>
            </a:r>
            <a:r>
              <a:rPr lang="en-US" dirty="0" err="1">
                <a:cs typeface="Times New Roman" panose="02020603050405020304" pitchFamily="18" charset="0"/>
              </a:rPr>
              <a:t>employment_type</a:t>
            </a:r>
            <a:r>
              <a:rPr lang="en-US" dirty="0">
                <a:cs typeface="Times New Roman" panose="02020603050405020304" pitchFamily="18" charset="0"/>
              </a:rPr>
              <a:t> pay the most?</a:t>
            </a:r>
          </a:p>
          <a:p>
            <a:pPr marL="342900" indent="-342900">
              <a:lnSpc>
                <a:spcPct val="150000"/>
              </a:lnSpc>
              <a:buAutoNum type="arabicPeriod"/>
            </a:pPr>
            <a:r>
              <a:rPr lang="en-US" dirty="0">
                <a:cs typeface="Times New Roman" panose="02020603050405020304" pitchFamily="18" charset="0"/>
              </a:rPr>
              <a:t>What are the most common areas of work?</a:t>
            </a:r>
          </a:p>
          <a:p>
            <a:pPr marL="342900" indent="-342900">
              <a:lnSpc>
                <a:spcPct val="150000"/>
              </a:lnSpc>
              <a:buAutoNum type="arabicPeriod"/>
            </a:pPr>
            <a:r>
              <a:rPr lang="en-US" dirty="0">
                <a:cs typeface="Times New Roman" panose="02020603050405020304" pitchFamily="18" charset="0"/>
              </a:rPr>
              <a:t>Located where most of the workers work?</a:t>
            </a:r>
            <a:endParaRPr lang="en-ID" dirty="0">
              <a:cs typeface="Times New Roman" panose="02020603050405020304" pitchFamily="18" charset="0"/>
            </a:endParaRPr>
          </a:p>
        </p:txBody>
      </p:sp>
    </p:spTree>
    <p:extLst>
      <p:ext uri="{BB962C8B-B14F-4D97-AF65-F5344CB8AC3E}">
        <p14:creationId xmlns:p14="http://schemas.microsoft.com/office/powerpoint/2010/main" val="1158908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Exploring Data</a:t>
            </a:r>
            <a:endParaRPr lang="en-ID" sz="7200" dirty="0">
              <a:solidFill>
                <a:schemeClr val="tx1"/>
              </a:solidFill>
              <a:latin typeface="+mn-lt"/>
            </a:endParaRPr>
          </a:p>
        </p:txBody>
      </p:sp>
      <p:sp>
        <p:nvSpPr>
          <p:cNvPr id="5" name="Title 1">
            <a:extLst>
              <a:ext uri="{FF2B5EF4-FFF2-40B4-BE49-F238E27FC236}">
                <a16:creationId xmlns:a16="http://schemas.microsoft.com/office/drawing/2014/main" id="{5D7D54B7-F571-E107-259A-8872AEA91E78}"/>
              </a:ext>
            </a:extLst>
          </p:cNvPr>
          <p:cNvSpPr txBox="1">
            <a:spLocks/>
          </p:cNvSpPr>
          <p:nvPr/>
        </p:nvSpPr>
        <p:spPr>
          <a:xfrm>
            <a:off x="1066800" y="948930"/>
            <a:ext cx="10058400" cy="7600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rtl="0">
              <a:spcBef>
                <a:spcPts val="0"/>
              </a:spcBef>
              <a:spcAft>
                <a:spcPts val="0"/>
              </a:spcAft>
            </a:pPr>
            <a:r>
              <a:rPr lang="en-ID" sz="2400" dirty="0">
                <a:solidFill>
                  <a:schemeClr val="tx1"/>
                </a:solidFill>
                <a:latin typeface="+mn-lt"/>
              </a:rPr>
              <a:t>Include SQL with </a:t>
            </a:r>
            <a:r>
              <a:rPr lang="en-ID" sz="2400" dirty="0" err="1">
                <a:solidFill>
                  <a:schemeClr val="tx1"/>
                </a:solidFill>
                <a:latin typeface="+mn-lt"/>
              </a:rPr>
              <a:t>BigQuery</a:t>
            </a:r>
            <a:endParaRPr lang="en-ID" sz="1400" b="0" dirty="0">
              <a:solidFill>
                <a:schemeClr val="tx1"/>
              </a:solidFill>
              <a:effectLst/>
              <a:latin typeface="+mn-lt"/>
            </a:endParaRPr>
          </a:p>
        </p:txBody>
      </p:sp>
      <p:sp>
        <p:nvSpPr>
          <p:cNvPr id="14" name="TextBox 13">
            <a:extLst>
              <a:ext uri="{FF2B5EF4-FFF2-40B4-BE49-F238E27FC236}">
                <a16:creationId xmlns:a16="http://schemas.microsoft.com/office/drawing/2014/main" id="{51C14C6D-2C9C-C3BA-4B77-862D1AA98A1B}"/>
              </a:ext>
            </a:extLst>
          </p:cNvPr>
          <p:cNvSpPr txBox="1"/>
          <p:nvPr/>
        </p:nvSpPr>
        <p:spPr>
          <a:xfrm>
            <a:off x="1082605" y="1780559"/>
            <a:ext cx="8204269" cy="369332"/>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following is a ready-to-use query for data visualization in Google Data Studio :</a:t>
            </a:r>
            <a:endParaRPr lang="en-ID" dirty="0"/>
          </a:p>
        </p:txBody>
      </p:sp>
      <p:grpSp>
        <p:nvGrpSpPr>
          <p:cNvPr id="16" name="Group 15">
            <a:extLst>
              <a:ext uri="{FF2B5EF4-FFF2-40B4-BE49-F238E27FC236}">
                <a16:creationId xmlns:a16="http://schemas.microsoft.com/office/drawing/2014/main" id="{AE7C5409-7108-842B-1DEE-520892948F3C}"/>
              </a:ext>
            </a:extLst>
          </p:cNvPr>
          <p:cNvGrpSpPr/>
          <p:nvPr/>
        </p:nvGrpSpPr>
        <p:grpSpPr>
          <a:xfrm>
            <a:off x="1466850" y="2312384"/>
            <a:ext cx="5365818" cy="2233231"/>
            <a:chOff x="1066800" y="2474879"/>
            <a:chExt cx="5365818" cy="2233231"/>
          </a:xfrm>
        </p:grpSpPr>
        <p:pic>
          <p:nvPicPr>
            <p:cNvPr id="6" name="Picture 5">
              <a:extLst>
                <a:ext uri="{FF2B5EF4-FFF2-40B4-BE49-F238E27FC236}">
                  <a16:creationId xmlns:a16="http://schemas.microsoft.com/office/drawing/2014/main" id="{D373650A-0759-EB94-3EDA-0CBE97C5DC91}"/>
                </a:ext>
              </a:extLst>
            </p:cNvPr>
            <p:cNvPicPr>
              <a:picLocks noChangeAspect="1"/>
            </p:cNvPicPr>
            <p:nvPr/>
          </p:nvPicPr>
          <p:blipFill>
            <a:blip r:embed="rId2"/>
            <a:stretch>
              <a:fillRect/>
            </a:stretch>
          </p:blipFill>
          <p:spPr>
            <a:xfrm>
              <a:off x="1066800" y="2474879"/>
              <a:ext cx="5365818" cy="2233231"/>
            </a:xfrm>
            <a:prstGeom prst="rect">
              <a:avLst/>
            </a:prstGeom>
          </p:spPr>
        </p:pic>
        <p:sp>
          <p:nvSpPr>
            <p:cNvPr id="9" name="Rectangle 8">
              <a:extLst>
                <a:ext uri="{FF2B5EF4-FFF2-40B4-BE49-F238E27FC236}">
                  <a16:creationId xmlns:a16="http://schemas.microsoft.com/office/drawing/2014/main" id="{7F81FE7A-0CBC-C939-EAF9-FD8A187EF5FA}"/>
                </a:ext>
              </a:extLst>
            </p:cNvPr>
            <p:cNvSpPr/>
            <p:nvPr/>
          </p:nvSpPr>
          <p:spPr>
            <a:xfrm>
              <a:off x="2990850" y="2528727"/>
              <a:ext cx="2095500" cy="296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1520307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4" name="TextBox 13">
            <a:extLst>
              <a:ext uri="{FF2B5EF4-FFF2-40B4-BE49-F238E27FC236}">
                <a16:creationId xmlns:a16="http://schemas.microsoft.com/office/drawing/2014/main" id="{4BDECECA-E7DD-54DB-5824-0C89AD2313C3}"/>
              </a:ext>
            </a:extLst>
          </p:cNvPr>
          <p:cNvSpPr txBox="1"/>
          <p:nvPr/>
        </p:nvSpPr>
        <p:spPr>
          <a:xfrm>
            <a:off x="712237" y="1096212"/>
            <a:ext cx="5529142" cy="464871"/>
          </a:xfrm>
          <a:prstGeom prst="rect">
            <a:avLst/>
          </a:prstGeom>
          <a:noFill/>
        </p:spPr>
        <p:txBody>
          <a:bodyPr wrap="none" rtlCol="0">
            <a:spAutoFit/>
          </a:bodyPr>
          <a:lstStyle/>
          <a:p>
            <a:pPr marL="342900" indent="-342900">
              <a:lnSpc>
                <a:spcPct val="150000"/>
              </a:lnSpc>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experience level every year</a:t>
            </a:r>
          </a:p>
        </p:txBody>
      </p:sp>
      <p:sp>
        <p:nvSpPr>
          <p:cNvPr id="11" name="TextBox 10">
            <a:extLst>
              <a:ext uri="{FF2B5EF4-FFF2-40B4-BE49-F238E27FC236}">
                <a16:creationId xmlns:a16="http://schemas.microsoft.com/office/drawing/2014/main" id="{45B36BE0-B851-73AF-34DC-84B1C9A8F804}"/>
              </a:ext>
            </a:extLst>
          </p:cNvPr>
          <p:cNvSpPr txBox="1"/>
          <p:nvPr/>
        </p:nvSpPr>
        <p:spPr>
          <a:xfrm>
            <a:off x="7410450" y="1864948"/>
            <a:ext cx="4314825" cy="4247317"/>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From the diagram, it can be seen that the average salary in each year tends to be constant, even though the salary at the EX experience level has increased by 2 times in 2021.</a:t>
            </a:r>
          </a:p>
          <a:p>
            <a:pPr marL="285750" indent="-285750">
              <a:buFont typeface="Arial" panose="020B0604020202020204" pitchFamily="34" charset="0"/>
              <a:buChar char="•"/>
            </a:pPr>
            <a:r>
              <a:rPr lang="en-US" dirty="0">
                <a:cs typeface="Times New Roman" panose="02020603050405020304" pitchFamily="18" charset="0"/>
              </a:rPr>
              <a:t>And if you look at the average salary given according to the level of work experience. Where if the worker has higher experience then the salary given is also higher.</a:t>
            </a:r>
          </a:p>
          <a:p>
            <a:pPr marL="285750" indent="-285750">
              <a:buFont typeface="Arial" panose="020B0604020202020204" pitchFamily="34" charset="0"/>
              <a:buChar char="•"/>
            </a:pPr>
            <a:r>
              <a:rPr lang="en-US" dirty="0">
                <a:cs typeface="Times New Roman" panose="02020603050405020304" pitchFamily="18" charset="0"/>
              </a:rPr>
              <a:t>The average salary given to EX in 2020 is lower than that given to SE in that year. This can be caused by the number of EX workers more than SE and with a different nominal for each company.</a:t>
            </a:r>
          </a:p>
        </p:txBody>
      </p:sp>
      <p:pic>
        <p:nvPicPr>
          <p:cNvPr id="5" name="Picture 4">
            <a:extLst>
              <a:ext uri="{FF2B5EF4-FFF2-40B4-BE49-F238E27FC236}">
                <a16:creationId xmlns:a16="http://schemas.microsoft.com/office/drawing/2014/main" id="{09C5FF86-0EEA-2ECD-B0AC-EB90AC5EB488}"/>
              </a:ext>
            </a:extLst>
          </p:cNvPr>
          <p:cNvPicPr>
            <a:picLocks noChangeAspect="1"/>
          </p:cNvPicPr>
          <p:nvPr/>
        </p:nvPicPr>
        <p:blipFill>
          <a:blip r:embed="rId2"/>
          <a:stretch>
            <a:fillRect/>
          </a:stretch>
        </p:blipFill>
        <p:spPr>
          <a:xfrm>
            <a:off x="1152525" y="2058147"/>
            <a:ext cx="6029325" cy="3564783"/>
          </a:xfrm>
          <a:prstGeom prst="rect">
            <a:avLst/>
          </a:prstGeom>
          <a:ln>
            <a:solidFill>
              <a:schemeClr val="tx1"/>
            </a:solidFill>
          </a:ln>
        </p:spPr>
      </p:pic>
    </p:spTree>
    <p:extLst>
      <p:ext uri="{BB962C8B-B14F-4D97-AF65-F5344CB8AC3E}">
        <p14:creationId xmlns:p14="http://schemas.microsoft.com/office/powerpoint/2010/main" val="2773516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181851" y="1915265"/>
            <a:ext cx="41910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For the average salary in accordance with the role of work each year, this has increased every year for the roles of Data Engineer, Data Scientist, and Data Analyst.</a:t>
            </a:r>
          </a:p>
          <a:p>
            <a:pPr marL="285750" indent="-285750">
              <a:buFont typeface="Arial" panose="020B0604020202020204" pitchFamily="34" charset="0"/>
              <a:buChar char="•"/>
            </a:pPr>
            <a:r>
              <a:rPr lang="en-US" dirty="0">
                <a:cs typeface="Times New Roman" panose="02020603050405020304" pitchFamily="18" charset="0"/>
              </a:rPr>
              <a:t>Meanwhile, the Machine Learning Developer role experienced fluctuations where the highest average salary was in 2020 which then fell by 31.5%, and then increased again in 2022.</a:t>
            </a:r>
          </a:p>
          <a:p>
            <a:pPr marL="285750" indent="-285750">
              <a:buFont typeface="Arial" panose="020B0604020202020204" pitchFamily="34" charset="0"/>
              <a:buChar char="•"/>
            </a:pPr>
            <a:r>
              <a:rPr lang="en-US" dirty="0">
                <a:cs typeface="Times New Roman" panose="02020603050405020304" pitchFamily="18" charset="0"/>
              </a:rPr>
              <a:t>And the largest average salary is for the Data Scientist role in 2022.</a:t>
            </a:r>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6031463" cy="464871"/>
          </a:xfrm>
          <a:prstGeom prst="rect">
            <a:avLst/>
          </a:prstGeom>
          <a:noFill/>
        </p:spPr>
        <p:txBody>
          <a:bodyPr wrap="square" rtlCol="0">
            <a:spAutoFit/>
          </a:bodyPr>
          <a:lstStyle/>
          <a:p>
            <a:pPr>
              <a:lnSpc>
                <a:spcPct val="150000"/>
              </a:lnSpc>
            </a:pPr>
            <a:r>
              <a:rPr lang="id-ID" dirty="0">
                <a:cs typeface="Times New Roman" panose="02020603050405020304" pitchFamily="18" charset="0"/>
              </a:rPr>
              <a:t>2.	</a:t>
            </a: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job title every year</a:t>
            </a:r>
          </a:p>
        </p:txBody>
      </p:sp>
      <p:pic>
        <p:nvPicPr>
          <p:cNvPr id="4" name="Picture 3">
            <a:extLst>
              <a:ext uri="{FF2B5EF4-FFF2-40B4-BE49-F238E27FC236}">
                <a16:creationId xmlns:a16="http://schemas.microsoft.com/office/drawing/2014/main" id="{EBEB5673-8C0A-5691-5D47-2EAA786E8375}"/>
              </a:ext>
            </a:extLst>
          </p:cNvPr>
          <p:cNvPicPr>
            <a:picLocks noChangeAspect="1"/>
          </p:cNvPicPr>
          <p:nvPr/>
        </p:nvPicPr>
        <p:blipFill>
          <a:blip r:embed="rId2"/>
          <a:stretch>
            <a:fillRect/>
          </a:stretch>
        </p:blipFill>
        <p:spPr>
          <a:xfrm>
            <a:off x="1066800" y="2048615"/>
            <a:ext cx="5945590" cy="3561610"/>
          </a:xfrm>
          <a:prstGeom prst="rect">
            <a:avLst/>
          </a:prstGeom>
          <a:ln>
            <a:solidFill>
              <a:schemeClr val="tx1"/>
            </a:solidFill>
          </a:ln>
        </p:spPr>
      </p:pic>
    </p:spTree>
    <p:extLst>
      <p:ext uri="{BB962C8B-B14F-4D97-AF65-F5344CB8AC3E}">
        <p14:creationId xmlns:p14="http://schemas.microsoft.com/office/powerpoint/2010/main" val="2080735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53873" y="5295832"/>
            <a:ext cx="10684253" cy="64633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biggest salary is the salary for Data Scientist jobs and the smallest salary is for Machine Learning Developer jobs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6031463" cy="464871"/>
          </a:xfrm>
          <a:prstGeom prst="rect">
            <a:avLst/>
          </a:prstGeom>
          <a:noFill/>
        </p:spPr>
        <p:txBody>
          <a:bodyPr wrap="square" rtlCol="0">
            <a:spAutoFit/>
          </a:bodyPr>
          <a:lstStyle/>
          <a:p>
            <a:pPr>
              <a:lnSpc>
                <a:spcPct val="150000"/>
              </a:lnSpc>
            </a:pPr>
            <a:r>
              <a:rPr lang="en-US" dirty="0">
                <a:cs typeface="Times New Roman" panose="02020603050405020304" pitchFamily="18" charset="0"/>
              </a:rPr>
              <a:t>3.	What jobs have the highest and lowest salaries?</a:t>
            </a:r>
          </a:p>
        </p:txBody>
      </p:sp>
      <p:pic>
        <p:nvPicPr>
          <p:cNvPr id="4" name="Picture 3">
            <a:extLst>
              <a:ext uri="{FF2B5EF4-FFF2-40B4-BE49-F238E27FC236}">
                <a16:creationId xmlns:a16="http://schemas.microsoft.com/office/drawing/2014/main" id="{52FFFA2E-951A-DEAC-E314-AF7C1585979A}"/>
              </a:ext>
            </a:extLst>
          </p:cNvPr>
          <p:cNvPicPr>
            <a:picLocks noChangeAspect="1"/>
          </p:cNvPicPr>
          <p:nvPr/>
        </p:nvPicPr>
        <p:blipFill>
          <a:blip r:embed="rId2"/>
          <a:stretch>
            <a:fillRect/>
          </a:stretch>
        </p:blipFill>
        <p:spPr>
          <a:xfrm>
            <a:off x="1199875" y="2008690"/>
            <a:ext cx="8476613" cy="3144335"/>
          </a:xfrm>
          <a:prstGeom prst="rect">
            <a:avLst/>
          </a:prstGeom>
          <a:ln>
            <a:solidFill>
              <a:schemeClr val="tx1"/>
            </a:solidFill>
          </a:ln>
        </p:spPr>
      </p:pic>
    </p:spTree>
    <p:extLst>
      <p:ext uri="{BB962C8B-B14F-4D97-AF65-F5344CB8AC3E}">
        <p14:creationId xmlns:p14="http://schemas.microsoft.com/office/powerpoint/2010/main" val="151378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824204" y="5218647"/>
            <a:ext cx="10876384" cy="64633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a:t>
            </a:r>
            <a:r>
              <a:rPr lang="en-US" dirty="0" err="1">
                <a:cs typeface="Times New Roman" panose="02020603050405020304" pitchFamily="18" charset="0"/>
              </a:rPr>
              <a:t>employment_type</a:t>
            </a:r>
            <a:r>
              <a:rPr lang="en-US" dirty="0">
                <a:cs typeface="Times New Roman" panose="02020603050405020304" pitchFamily="18" charset="0"/>
              </a:rPr>
              <a:t> that gets the largest salary is the FT or Full Time type, which means that the majority of the workers in the </a:t>
            </a:r>
            <a:r>
              <a:rPr lang="en-US" dirty="0" err="1">
                <a:cs typeface="Times New Roman" panose="02020603050405020304" pitchFamily="18" charset="0"/>
              </a:rPr>
              <a:t>salary_dataset</a:t>
            </a:r>
            <a:r>
              <a:rPr lang="en-US" dirty="0">
                <a:cs typeface="Times New Roman" panose="02020603050405020304" pitchFamily="18" charset="0"/>
              </a:rPr>
              <a:t> are Full Time workers.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5183342"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4.	What types of </a:t>
            </a:r>
            <a:r>
              <a:rPr lang="en-US" dirty="0" err="1">
                <a:cs typeface="Times New Roman" panose="02020603050405020304" pitchFamily="18" charset="0"/>
              </a:rPr>
              <a:t>employment_type</a:t>
            </a:r>
            <a:r>
              <a:rPr lang="en-US" dirty="0">
                <a:cs typeface="Times New Roman" panose="02020603050405020304" pitchFamily="18" charset="0"/>
              </a:rPr>
              <a:t> pay the most?</a:t>
            </a:r>
          </a:p>
        </p:txBody>
      </p:sp>
      <p:pic>
        <p:nvPicPr>
          <p:cNvPr id="3" name="Picture 2">
            <a:extLst>
              <a:ext uri="{FF2B5EF4-FFF2-40B4-BE49-F238E27FC236}">
                <a16:creationId xmlns:a16="http://schemas.microsoft.com/office/drawing/2014/main" id="{930A7E10-7732-62E6-37F1-6F7ED89C2410}"/>
              </a:ext>
            </a:extLst>
          </p:cNvPr>
          <p:cNvPicPr>
            <a:picLocks noChangeAspect="1"/>
          </p:cNvPicPr>
          <p:nvPr/>
        </p:nvPicPr>
        <p:blipFill>
          <a:blip r:embed="rId2"/>
          <a:stretch>
            <a:fillRect/>
          </a:stretch>
        </p:blipFill>
        <p:spPr>
          <a:xfrm>
            <a:off x="1199196" y="1907975"/>
            <a:ext cx="7913549" cy="3177209"/>
          </a:xfrm>
          <a:prstGeom prst="rect">
            <a:avLst/>
          </a:prstGeom>
          <a:ln>
            <a:solidFill>
              <a:schemeClr val="tx1"/>
            </a:solidFill>
          </a:ln>
        </p:spPr>
      </p:pic>
    </p:spTree>
    <p:extLst>
      <p:ext uri="{BB962C8B-B14F-4D97-AF65-F5344CB8AC3E}">
        <p14:creationId xmlns:p14="http://schemas.microsoft.com/office/powerpoint/2010/main" val="2398462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940351" y="1997839"/>
            <a:ext cx="3489649" cy="313932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field of work that is most in demand is Data Scientist with a total of 35.1% of the total, which is 194 workers.</a:t>
            </a:r>
          </a:p>
          <a:p>
            <a:pPr marL="285750" indent="-285750">
              <a:buFont typeface="Arial" panose="020B0604020202020204" pitchFamily="34" charset="0"/>
              <a:buChar char="•"/>
            </a:pPr>
            <a:r>
              <a:rPr lang="en-US" dirty="0"/>
              <a:t>The second rank is Data Engineer with 177 workers, 32.1% of the total.</a:t>
            </a:r>
          </a:p>
          <a:p>
            <a:pPr marL="285750" indent="-285750">
              <a:buFont typeface="Arial" panose="020B0604020202020204" pitchFamily="34" charset="0"/>
              <a:buChar char="•"/>
            </a:pPr>
            <a:r>
              <a:rPr lang="en-US" dirty="0"/>
              <a:t>This shows that Data Scientist and Data Engineer are in the top 2 jobs that are mostly used as professions.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4772140"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5</a:t>
            </a:r>
            <a:r>
              <a:rPr lang="id-ID" dirty="0">
                <a:cs typeface="Times New Roman" panose="02020603050405020304" pitchFamily="18" charset="0"/>
              </a:rPr>
              <a:t>.	</a:t>
            </a:r>
            <a:r>
              <a:rPr lang="en-ID" dirty="0">
                <a:cs typeface="Times New Roman" panose="02020603050405020304" pitchFamily="18" charset="0"/>
              </a:rPr>
              <a:t> </a:t>
            </a:r>
            <a:r>
              <a:rPr lang="en-US" dirty="0">
                <a:cs typeface="Times New Roman" panose="02020603050405020304" pitchFamily="18" charset="0"/>
              </a:rPr>
              <a:t>What are the most common areas of work?</a:t>
            </a:r>
            <a:endParaRPr lang="en-ID" dirty="0">
              <a:cs typeface="Times New Roman" panose="02020603050405020304" pitchFamily="18" charset="0"/>
            </a:endParaRPr>
          </a:p>
        </p:txBody>
      </p:sp>
      <p:pic>
        <p:nvPicPr>
          <p:cNvPr id="7" name="Picture 6">
            <a:extLst>
              <a:ext uri="{FF2B5EF4-FFF2-40B4-BE49-F238E27FC236}">
                <a16:creationId xmlns:a16="http://schemas.microsoft.com/office/drawing/2014/main" id="{F643866C-A1F8-B2D7-4C7F-56B01F398D84}"/>
              </a:ext>
            </a:extLst>
          </p:cNvPr>
          <p:cNvPicPr>
            <a:picLocks noChangeAspect="1"/>
          </p:cNvPicPr>
          <p:nvPr/>
        </p:nvPicPr>
        <p:blipFill>
          <a:blip r:embed="rId2"/>
          <a:stretch>
            <a:fillRect/>
          </a:stretch>
        </p:blipFill>
        <p:spPr>
          <a:xfrm>
            <a:off x="1243023" y="1997839"/>
            <a:ext cx="6477561" cy="3863675"/>
          </a:xfrm>
          <a:prstGeom prst="rect">
            <a:avLst/>
          </a:prstGeom>
          <a:ln>
            <a:solidFill>
              <a:schemeClr val="bg1">
                <a:lumMod val="75000"/>
              </a:schemeClr>
            </a:solidFill>
          </a:ln>
        </p:spPr>
      </p:pic>
    </p:spTree>
    <p:extLst>
      <p:ext uri="{BB962C8B-B14F-4D97-AF65-F5344CB8AC3E}">
        <p14:creationId xmlns:p14="http://schemas.microsoft.com/office/powerpoint/2010/main" val="718152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940351" y="1997839"/>
            <a:ext cx="3489649" cy="2862322"/>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From all the locations in the data, only the top 6 locations for working people were taken.</a:t>
            </a:r>
          </a:p>
          <a:p>
            <a:pPr marL="285750" indent="-285750">
              <a:buFont typeface="Arial" panose="020B0604020202020204" pitchFamily="34" charset="0"/>
              <a:buChar char="•"/>
            </a:pPr>
            <a:r>
              <a:rPr lang="en-US" dirty="0">
                <a:cs typeface="Times New Roman" panose="02020603050405020304" pitchFamily="18" charset="0"/>
              </a:rPr>
              <a:t>It can be seen that the US became the most favorite location among the others, more than 6 times from the second location called GB.</a:t>
            </a:r>
          </a:p>
          <a:p>
            <a:pPr marL="285750" indent="-285750">
              <a:buFont typeface="Arial" panose="020B0604020202020204" pitchFamily="34" charset="0"/>
              <a:buChar char="•"/>
            </a:pPr>
            <a:r>
              <a:rPr lang="en-US" dirty="0">
                <a:cs typeface="Times New Roman" panose="02020603050405020304" pitchFamily="18" charset="0"/>
              </a:rPr>
              <a:t>And the US spends about 41.3 million dollars on its workers.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4598823"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6</a:t>
            </a:r>
            <a:r>
              <a:rPr lang="id-ID" dirty="0">
                <a:cs typeface="Times New Roman" panose="02020603050405020304" pitchFamily="18" charset="0"/>
              </a:rPr>
              <a:t>.	</a:t>
            </a:r>
            <a:r>
              <a:rPr lang="en-ID" dirty="0">
                <a:cs typeface="Times New Roman" panose="02020603050405020304" pitchFamily="18" charset="0"/>
              </a:rPr>
              <a:t> L</a:t>
            </a:r>
            <a:r>
              <a:rPr lang="en-US" dirty="0" err="1">
                <a:cs typeface="Times New Roman" panose="02020603050405020304" pitchFamily="18" charset="0"/>
              </a:rPr>
              <a:t>ocated</a:t>
            </a:r>
            <a:r>
              <a:rPr lang="en-US" dirty="0">
                <a:cs typeface="Times New Roman" panose="02020603050405020304" pitchFamily="18" charset="0"/>
              </a:rPr>
              <a:t> where most of the workers work?</a:t>
            </a:r>
            <a:endParaRPr lang="en-ID" dirty="0">
              <a:cs typeface="Times New Roman" panose="02020603050405020304" pitchFamily="18" charset="0"/>
            </a:endParaRPr>
          </a:p>
        </p:txBody>
      </p:sp>
      <p:pic>
        <p:nvPicPr>
          <p:cNvPr id="3" name="Picture 2">
            <a:extLst>
              <a:ext uri="{FF2B5EF4-FFF2-40B4-BE49-F238E27FC236}">
                <a16:creationId xmlns:a16="http://schemas.microsoft.com/office/drawing/2014/main" id="{02F8954B-21F1-8BC9-D8BA-A6586DFBFB98}"/>
              </a:ext>
            </a:extLst>
          </p:cNvPr>
          <p:cNvPicPr>
            <a:picLocks noChangeAspect="1"/>
          </p:cNvPicPr>
          <p:nvPr/>
        </p:nvPicPr>
        <p:blipFill>
          <a:blip r:embed="rId2"/>
          <a:stretch>
            <a:fillRect/>
          </a:stretch>
        </p:blipFill>
        <p:spPr>
          <a:xfrm>
            <a:off x="1225681" y="2014196"/>
            <a:ext cx="6612033" cy="3942530"/>
          </a:xfrm>
          <a:prstGeom prst="rect">
            <a:avLst/>
          </a:prstGeom>
          <a:ln>
            <a:solidFill>
              <a:schemeClr val="tx1"/>
            </a:solidFill>
          </a:ln>
        </p:spPr>
      </p:pic>
    </p:spTree>
    <p:extLst>
      <p:ext uri="{BB962C8B-B14F-4D97-AF65-F5344CB8AC3E}">
        <p14:creationId xmlns:p14="http://schemas.microsoft.com/office/powerpoint/2010/main" val="3608250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E4D8-B64D-8DC7-ABD6-62B368E3A9D6}"/>
              </a:ext>
            </a:extLst>
          </p:cNvPr>
          <p:cNvSpPr>
            <a:spLocks noGrp="1"/>
          </p:cNvSpPr>
          <p:nvPr>
            <p:ph type="ctrTitle"/>
          </p:nvPr>
        </p:nvSpPr>
        <p:spPr/>
        <p:txBody>
          <a:bodyPr/>
          <a:lstStyle/>
          <a:p>
            <a:r>
              <a:rPr lang="en-ID" dirty="0">
                <a:latin typeface="+mn-lt"/>
              </a:rPr>
              <a:t>THANK YOU</a:t>
            </a:r>
          </a:p>
        </p:txBody>
      </p:sp>
      <p:sp>
        <p:nvSpPr>
          <p:cNvPr id="6" name="Subtitle 2">
            <a:extLst>
              <a:ext uri="{FF2B5EF4-FFF2-40B4-BE49-F238E27FC236}">
                <a16:creationId xmlns:a16="http://schemas.microsoft.com/office/drawing/2014/main" id="{5DC38F0E-6F3B-6762-B9B5-888B0DAD57E1}"/>
              </a:ext>
            </a:extLst>
          </p:cNvPr>
          <p:cNvSpPr txBox="1">
            <a:spLocks/>
          </p:cNvSpPr>
          <p:nvPr/>
        </p:nvSpPr>
        <p:spPr>
          <a:xfrm>
            <a:off x="1252451" y="4608021"/>
            <a:ext cx="10058400" cy="1143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rtl="0">
              <a:spcBef>
                <a:spcPts val="0"/>
              </a:spcBef>
              <a:spcAft>
                <a:spcPts val="0"/>
              </a:spcAft>
            </a:pPr>
            <a:r>
              <a:rPr lang="en-IN" b="1" i="0" u="none" strike="noStrike" dirty="0">
                <a:solidFill>
                  <a:schemeClr val="accent2"/>
                </a:solidFill>
                <a:effectLst/>
                <a:latin typeface="+mn-lt"/>
              </a:rPr>
              <a:t>Rakesh Jadhav</a:t>
            </a:r>
            <a:endParaRPr lang="en-ID" b="1" i="0" u="none" strike="noStrike" dirty="0">
              <a:solidFill>
                <a:schemeClr val="accent2"/>
              </a:solidFill>
              <a:effectLst/>
              <a:latin typeface="+mn-lt"/>
            </a:endParaRPr>
          </a:p>
          <a:p>
            <a:pPr algn="ctr" rtl="0">
              <a:spcBef>
                <a:spcPts val="0"/>
              </a:spcBef>
              <a:spcAft>
                <a:spcPts val="0"/>
              </a:spcAft>
            </a:pPr>
            <a:r>
              <a:rPr lang="en-ID" b="0" dirty="0">
                <a:effectLst/>
                <a:latin typeface="+mn-lt"/>
              </a:rPr>
              <a:t>( 5 DEC – 25 DEC )</a:t>
            </a:r>
          </a:p>
          <a:p>
            <a:endParaRPr lang="en-ID" dirty="0">
              <a:latin typeface="+mn-lt"/>
            </a:endParaRPr>
          </a:p>
        </p:txBody>
      </p:sp>
    </p:spTree>
    <p:extLst>
      <p:ext uri="{BB962C8B-B14F-4D97-AF65-F5344CB8AC3E}">
        <p14:creationId xmlns:p14="http://schemas.microsoft.com/office/powerpoint/2010/main" val="10337400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3094</TotalTime>
  <Words>939</Words>
  <Application>Microsoft Office PowerPoint</Application>
  <PresentationFormat>Widescreen</PresentationFormat>
  <Paragraphs>78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Retrospect</vt:lpstr>
      <vt:lpstr>Salary Project  TAKEN FROM CASE STUDY            Data Analytics</vt:lpstr>
      <vt:lpstr>Case Study Instructions</vt:lpstr>
      <vt:lpstr>Preview Data</vt:lpstr>
      <vt:lpstr>Preview Data</vt:lpstr>
      <vt:lpstr>Python and Data Cleaning</vt:lpstr>
      <vt:lpstr>Python and Data Cleaning</vt:lpstr>
      <vt:lpstr>Preview Data</vt:lpstr>
      <vt:lpstr>Preview Data</vt:lpstr>
      <vt:lpstr>Defining Question</vt:lpstr>
      <vt:lpstr>Exploring Data</vt:lpstr>
      <vt:lpstr>Visualization with Insight</vt:lpstr>
      <vt:lpstr>Visualization with Insight</vt:lpstr>
      <vt:lpstr>Visualization with Insight</vt:lpstr>
      <vt:lpstr>Visualization with Insight</vt:lpstr>
      <vt:lpstr>Visualization with Insight</vt:lpstr>
      <vt:lpstr>Visualization with Insight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RevoU Mini Course Data Analytics</dc:title>
  <dc:creator>Dhea Amalia Lutfiani</dc:creator>
  <cp:lastModifiedBy>patil</cp:lastModifiedBy>
  <cp:revision>60</cp:revision>
  <dcterms:created xsi:type="dcterms:W3CDTF">2022-02-12T01:46:59Z</dcterms:created>
  <dcterms:modified xsi:type="dcterms:W3CDTF">2025-12-29T06:38:42Z</dcterms:modified>
</cp:coreProperties>
</file>